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1" d="100"/>
          <a:sy n="71" d="100"/>
        </p:scale>
        <p:origin x="92" y="1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88825"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6675" y="2404534"/>
            <a:ext cx="7764913" cy="1646302"/>
          </a:xfrm>
        </p:spPr>
        <p:txBody>
          <a:bodyPr anchor="b">
            <a:noAutofit/>
          </a:bodyPr>
          <a:lstStyle>
            <a:lvl1pPr algn="r">
              <a:defRPr sz="5398">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6675" y="4050834"/>
            <a:ext cx="7764913" cy="1096899"/>
          </a:xfrm>
        </p:spPr>
        <p:txBody>
          <a:bodyPr anchor="t"/>
          <a:lstStyle>
            <a:lvl1pPr marL="0" indent="0" algn="r">
              <a:buNone/>
              <a:defRPr>
                <a:solidFill>
                  <a:schemeClr val="tx1">
                    <a:lumMod val="50000"/>
                    <a:lumOff val="50000"/>
                  </a:schemeClr>
                </a:soli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38220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599"/>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71991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159" y="2700868"/>
            <a:ext cx="8594429" cy="1826581"/>
          </a:xfrm>
        </p:spPr>
        <p:txBody>
          <a:bodyPr anchor="b"/>
          <a:lstStyle>
            <a:lvl1pPr algn="l">
              <a:defRPr sz="3999" b="0" cap="none"/>
            </a:lvl1pPr>
          </a:lstStyle>
          <a:p>
            <a:r>
              <a:rPr lang="en-US"/>
              <a:t>Click to edit Master title style</a:t>
            </a:r>
            <a:endParaRPr lang="en-US" dirty="0"/>
          </a:p>
        </p:txBody>
      </p:sp>
      <p:sp>
        <p:nvSpPr>
          <p:cNvPr id="3" name="Text Placeholder 2"/>
          <p:cNvSpPr>
            <a:spLocks noGrp="1"/>
          </p:cNvSpPr>
          <p:nvPr>
            <p:ph type="body" idx="1"/>
          </p:nvPr>
        </p:nvSpPr>
        <p:spPr>
          <a:xfrm>
            <a:off x="677159" y="4527448"/>
            <a:ext cx="8594429" cy="860400"/>
          </a:xfrm>
        </p:spPr>
        <p:txBody>
          <a:bodyPr anchor="t"/>
          <a:lstStyle>
            <a:lvl1pPr marL="0" indent="0" algn="l">
              <a:buNone/>
              <a:defRPr sz="1999">
                <a:solidFill>
                  <a:schemeClr val="tx1">
                    <a:lumMod val="50000"/>
                    <a:lumOff val="50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13462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158" y="2160589"/>
            <a:ext cx="418294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8645" y="2160590"/>
            <a:ext cx="418294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80223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570" y="2160983"/>
            <a:ext cx="4184533" cy="576262"/>
          </a:xfrm>
        </p:spPr>
        <p:txBody>
          <a:bodyPr anchor="b">
            <a:noAutofit/>
          </a:bodyPr>
          <a:lstStyle>
            <a:lvl1pPr marL="0" indent="0">
              <a:buNone/>
              <a:defRPr sz="23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p:cNvSpPr>
            <a:spLocks noGrp="1"/>
          </p:cNvSpPr>
          <p:nvPr>
            <p:ph sz="half" idx="2"/>
          </p:nvPr>
        </p:nvSpPr>
        <p:spPr>
          <a:xfrm>
            <a:off x="675570" y="2737246"/>
            <a:ext cx="418453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7058" y="2160983"/>
            <a:ext cx="4184528" cy="576262"/>
          </a:xfrm>
        </p:spPr>
        <p:txBody>
          <a:bodyPr anchor="b">
            <a:noAutofit/>
          </a:bodyPr>
          <a:lstStyle>
            <a:lvl1pPr marL="0" indent="0">
              <a:buNone/>
              <a:defRPr sz="23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7059" y="2737246"/>
            <a:ext cx="418452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23076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158" y="609600"/>
            <a:ext cx="8594429"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6/13/2026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40539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42583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158" y="1498604"/>
            <a:ext cx="3853524" cy="1278466"/>
          </a:xfrm>
        </p:spPr>
        <p:txBody>
          <a:bodyPr anchor="b">
            <a:normAutofit/>
          </a:bodyPr>
          <a:lstStyle>
            <a:lvl1pPr>
              <a:defRPr sz="1999"/>
            </a:lvl1pPr>
          </a:lstStyle>
          <a:p>
            <a:r>
              <a:rPr lang="en-US"/>
              <a:t>Click to edit Master title style</a:t>
            </a:r>
            <a:endParaRPr lang="en-US" dirty="0"/>
          </a:p>
        </p:txBody>
      </p:sp>
      <p:sp>
        <p:nvSpPr>
          <p:cNvPr id="3" name="Content Placeholder 2"/>
          <p:cNvSpPr>
            <a:spLocks noGrp="1"/>
          </p:cNvSpPr>
          <p:nvPr>
            <p:ph idx="1"/>
          </p:nvPr>
        </p:nvSpPr>
        <p:spPr>
          <a:xfrm>
            <a:off x="4759222" y="514925"/>
            <a:ext cx="4512366"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158" y="2777069"/>
            <a:ext cx="3853524" cy="2584449"/>
          </a:xfrm>
        </p:spPr>
        <p:txBody>
          <a:bodyPr>
            <a:normAutofit/>
          </a:bodyPr>
          <a:lstStyle>
            <a:lvl1pPr marL="0" indent="0">
              <a:buNone/>
              <a:defRPr sz="1400"/>
            </a:lvl1pPr>
            <a:lvl2pPr marL="456926" indent="0">
              <a:buNone/>
              <a:defRPr sz="1400"/>
            </a:lvl2pPr>
            <a:lvl3pPr marL="913852" indent="0">
              <a:buNone/>
              <a:defRPr sz="1200"/>
            </a:lvl3pPr>
            <a:lvl4pPr marL="1370778" indent="0">
              <a:buNone/>
              <a:defRPr sz="1000"/>
            </a:lvl4pPr>
            <a:lvl5pPr marL="1827703" indent="0">
              <a:buNone/>
              <a:defRPr sz="1000"/>
            </a:lvl5pPr>
            <a:lvl6pPr marL="2284628" indent="0">
              <a:buNone/>
              <a:defRPr sz="1000"/>
            </a:lvl6pPr>
            <a:lvl7pPr marL="2741554" indent="0">
              <a:buNone/>
              <a:defRPr sz="1000"/>
            </a:lvl7pPr>
            <a:lvl8pPr marL="3198480" indent="0">
              <a:buNone/>
              <a:defRPr sz="1000"/>
            </a:lvl8pPr>
            <a:lvl9pPr marL="3655406"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1860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158" y="4800600"/>
            <a:ext cx="8594428" cy="566738"/>
          </a:xfrm>
        </p:spPr>
        <p:txBody>
          <a:bodyPr anchor="b">
            <a:normAutofit/>
          </a:bodyPr>
          <a:lstStyle>
            <a:lvl1pPr algn="l">
              <a:defRPr sz="2399"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158" y="609600"/>
            <a:ext cx="8594429" cy="3845718"/>
          </a:xfrm>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158" y="5367338"/>
            <a:ext cx="8594428" cy="674024"/>
          </a:xfrm>
        </p:spPr>
        <p:txBody>
          <a:bodyPr>
            <a:normAutofit/>
          </a:bodyPr>
          <a:lstStyle>
            <a:lvl1pPr marL="0" indent="0">
              <a:buNone/>
              <a:defRPr sz="12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70175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159" y="609600"/>
            <a:ext cx="8594429" cy="3403600"/>
          </a:xfrm>
        </p:spPr>
        <p:txBody>
          <a:bodyPr anchor="ctr">
            <a:normAutofit/>
          </a:bodyPr>
          <a:lstStyle>
            <a:lvl1pPr algn="l">
              <a:defRPr sz="4399" b="0" cap="none"/>
            </a:lvl1pPr>
          </a:lstStyle>
          <a:p>
            <a:r>
              <a:rPr lang="en-US"/>
              <a:t>Click to edit Master title style</a:t>
            </a:r>
            <a:endParaRPr lang="en-US" dirty="0"/>
          </a:p>
        </p:txBody>
      </p:sp>
      <p:sp>
        <p:nvSpPr>
          <p:cNvPr id="3" name="Text Placeholder 2"/>
          <p:cNvSpPr>
            <a:spLocks noGrp="1"/>
          </p:cNvSpPr>
          <p:nvPr>
            <p:ph type="body" idx="1"/>
          </p:nvPr>
        </p:nvSpPr>
        <p:spPr>
          <a:xfrm>
            <a:off x="677159" y="4470400"/>
            <a:ext cx="8594429" cy="1570962"/>
          </a:xfrm>
        </p:spPr>
        <p:txBody>
          <a:bodyPr anchor="ctr">
            <a:normAutofit/>
          </a:bodyPr>
          <a:lstStyle>
            <a:lvl1pPr marL="0" indent="0" algn="l">
              <a:buNone/>
              <a:defRPr sz="1799">
                <a:solidFill>
                  <a:schemeClr val="tx1">
                    <a:lumMod val="75000"/>
                    <a:lumOff val="25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81409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092" y="609600"/>
            <a:ext cx="8092026" cy="3022600"/>
          </a:xfrm>
        </p:spPr>
        <p:txBody>
          <a:bodyPr anchor="ctr">
            <a:normAutofit/>
          </a:bodyPr>
          <a:lstStyle>
            <a:lvl1pPr algn="l">
              <a:defRPr sz="4399"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5783" y="3632200"/>
            <a:ext cx="7222643" cy="381000"/>
          </a:xfrm>
        </p:spPr>
        <p:txBody>
          <a:bodyPr anchor="ctr">
            <a:noAutofit/>
          </a:bodyPr>
          <a:lstStyle>
            <a:lvl1pPr marL="0" indent="0">
              <a:buFontTx/>
              <a:buNone/>
              <a:defRPr sz="1600">
                <a:solidFill>
                  <a:schemeClr val="tx1">
                    <a:lumMod val="50000"/>
                    <a:lumOff val="50000"/>
                  </a:schemeClr>
                </a:solidFill>
              </a:defRPr>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n-US"/>
              <a:t>Click to edit Master text styles</a:t>
            </a:r>
          </a:p>
        </p:txBody>
      </p:sp>
      <p:sp>
        <p:nvSpPr>
          <p:cNvPr id="3" name="Text Placeholder 2"/>
          <p:cNvSpPr>
            <a:spLocks noGrp="1"/>
          </p:cNvSpPr>
          <p:nvPr>
            <p:ph type="body" idx="1"/>
          </p:nvPr>
        </p:nvSpPr>
        <p:spPr>
          <a:xfrm>
            <a:off x="677159" y="4470400"/>
            <a:ext cx="8594429" cy="1570962"/>
          </a:xfrm>
        </p:spPr>
        <p:txBody>
          <a:bodyPr anchor="ctr">
            <a:normAutofit/>
          </a:bodyPr>
          <a:lstStyle>
            <a:lvl1pPr marL="0" indent="0" algn="l">
              <a:buNone/>
              <a:defRPr sz="1799">
                <a:solidFill>
                  <a:schemeClr val="tx1">
                    <a:lumMod val="75000"/>
                    <a:lumOff val="25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0" name="TextBox 19"/>
          <p:cNvSpPr txBox="1"/>
          <p:nvPr/>
        </p:nvSpPr>
        <p:spPr>
          <a:xfrm>
            <a:off x="541729" y="790378"/>
            <a:ext cx="609441" cy="584776"/>
          </a:xfrm>
          <a:prstGeom prst="rect">
            <a:avLst/>
          </a:prstGeom>
        </p:spPr>
        <p:txBody>
          <a:bodyPr vert="horz" lIns="91416" tIns="45708" rIns="91416" bIns="45708" rtlCol="0" anchor="ctr">
            <a:noAutofit/>
          </a:bodyPr>
          <a:lstStyle/>
          <a:p>
            <a:pPr lvl="0"/>
            <a:r>
              <a:rPr lang="en-US" sz="7998"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0695" y="2886556"/>
            <a:ext cx="609441" cy="584776"/>
          </a:xfrm>
          <a:prstGeom prst="rect">
            <a:avLst/>
          </a:prstGeom>
        </p:spPr>
        <p:txBody>
          <a:bodyPr vert="horz" lIns="91416" tIns="45708" rIns="91416" bIns="45708" rtlCol="0" anchor="ctr">
            <a:noAutofit/>
          </a:bodyPr>
          <a:lstStyle/>
          <a:p>
            <a:pPr lvl="0"/>
            <a:r>
              <a:rPr lang="en-US" sz="7998" baseline="0" dirty="0">
                <a:ln w="3175" cmpd="sng">
                  <a:noFill/>
                </a:ln>
                <a:solidFill>
                  <a:schemeClr val="accent1">
                    <a:lumMod val="60000"/>
                    <a:lumOff val="40000"/>
                  </a:schemeClr>
                </a:solidFill>
                <a:latin typeface="Arial"/>
              </a:rPr>
              <a:t>”</a:t>
            </a:r>
            <a:endParaRPr lang="en-US" sz="1799" dirty="0">
              <a:solidFill>
                <a:schemeClr val="accent1">
                  <a:lumMod val="60000"/>
                  <a:lumOff val="40000"/>
                </a:schemeClr>
              </a:solidFill>
              <a:latin typeface="Arial"/>
            </a:endParaRPr>
          </a:p>
        </p:txBody>
      </p:sp>
    </p:spTree>
    <p:extLst>
      <p:ext uri="{BB962C8B-B14F-4D97-AF65-F5344CB8AC3E}">
        <p14:creationId xmlns:p14="http://schemas.microsoft.com/office/powerpoint/2010/main" val="1545503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159" y="1931988"/>
            <a:ext cx="8594429" cy="2595460"/>
          </a:xfrm>
        </p:spPr>
        <p:txBody>
          <a:bodyPr anchor="b">
            <a:normAutofit/>
          </a:bodyPr>
          <a:lstStyle>
            <a:lvl1pPr algn="l">
              <a:defRPr sz="4399" b="0" cap="none"/>
            </a:lvl1pPr>
          </a:lstStyle>
          <a:p>
            <a:r>
              <a:rPr lang="en-US"/>
              <a:t>Click to edit Master title style</a:t>
            </a:r>
            <a:endParaRPr lang="en-US" dirty="0"/>
          </a:p>
        </p:txBody>
      </p:sp>
      <p:sp>
        <p:nvSpPr>
          <p:cNvPr id="3" name="Text Placeholder 2"/>
          <p:cNvSpPr>
            <a:spLocks noGrp="1"/>
          </p:cNvSpPr>
          <p:nvPr>
            <p:ph type="body" idx="1"/>
          </p:nvPr>
        </p:nvSpPr>
        <p:spPr>
          <a:xfrm>
            <a:off x="677159" y="4527448"/>
            <a:ext cx="8594429" cy="1513914"/>
          </a:xfrm>
        </p:spPr>
        <p:txBody>
          <a:bodyPr anchor="t">
            <a:normAutofit/>
          </a:bodyPr>
          <a:lstStyle>
            <a:lvl1pPr marL="0" indent="0" algn="l">
              <a:buNone/>
              <a:defRPr sz="1799">
                <a:solidFill>
                  <a:schemeClr val="tx1">
                    <a:lumMod val="75000"/>
                    <a:lumOff val="25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297966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092" y="609600"/>
            <a:ext cx="8092026" cy="3022600"/>
          </a:xfrm>
        </p:spPr>
        <p:txBody>
          <a:bodyPr anchor="ctr">
            <a:normAutofit/>
          </a:bodyPr>
          <a:lstStyle>
            <a:lvl1pPr algn="l">
              <a:defRPr sz="4399"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156" y="4013200"/>
            <a:ext cx="8594430" cy="514248"/>
          </a:xfrm>
        </p:spPr>
        <p:txBody>
          <a:bodyPr anchor="b">
            <a:noAutofit/>
          </a:bodyPr>
          <a:lstStyle>
            <a:lvl1pPr marL="0" indent="0">
              <a:buFontTx/>
              <a:buNone/>
              <a:defRPr sz="2399">
                <a:solidFill>
                  <a:schemeClr val="tx1">
                    <a:lumMod val="75000"/>
                    <a:lumOff val="25000"/>
                  </a:schemeClr>
                </a:solidFill>
              </a:defRPr>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n-US"/>
              <a:t>Click to edit Master text styles</a:t>
            </a:r>
          </a:p>
        </p:txBody>
      </p:sp>
      <p:sp>
        <p:nvSpPr>
          <p:cNvPr id="3" name="Text Placeholder 2"/>
          <p:cNvSpPr>
            <a:spLocks noGrp="1"/>
          </p:cNvSpPr>
          <p:nvPr>
            <p:ph type="body" idx="1"/>
          </p:nvPr>
        </p:nvSpPr>
        <p:spPr>
          <a:xfrm>
            <a:off x="677159" y="4527448"/>
            <a:ext cx="8594429" cy="1513914"/>
          </a:xfrm>
        </p:spPr>
        <p:txBody>
          <a:bodyPr anchor="t">
            <a:normAutofit/>
          </a:bodyPr>
          <a:lstStyle>
            <a:lvl1pPr marL="0" indent="0" algn="l">
              <a:buNone/>
              <a:defRPr sz="1799">
                <a:solidFill>
                  <a:schemeClr val="tx1">
                    <a:lumMod val="50000"/>
                    <a:lumOff val="50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541729" y="790378"/>
            <a:ext cx="609441" cy="584776"/>
          </a:xfrm>
          <a:prstGeom prst="rect">
            <a:avLst/>
          </a:prstGeom>
        </p:spPr>
        <p:txBody>
          <a:bodyPr vert="horz" lIns="91416" tIns="45708" rIns="91416" bIns="45708" rtlCol="0" anchor="ctr">
            <a:noAutofit/>
          </a:bodyPr>
          <a:lstStyle/>
          <a:p>
            <a:pPr lvl="0"/>
            <a:r>
              <a:rPr lang="en-US" sz="7998"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0695" y="2886556"/>
            <a:ext cx="609441" cy="584776"/>
          </a:xfrm>
          <a:prstGeom prst="rect">
            <a:avLst/>
          </a:prstGeom>
        </p:spPr>
        <p:txBody>
          <a:bodyPr vert="horz" lIns="91416" tIns="45708" rIns="91416" bIns="45708" rtlCol="0" anchor="ctr">
            <a:noAutofit/>
          </a:bodyPr>
          <a:lstStyle/>
          <a:p>
            <a:pPr lvl="0"/>
            <a:r>
              <a:rPr lang="en-US" sz="7998"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9243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621" y="609600"/>
            <a:ext cx="8585966" cy="3022600"/>
          </a:xfrm>
        </p:spPr>
        <p:txBody>
          <a:bodyPr anchor="ctr">
            <a:normAutofit/>
          </a:bodyPr>
          <a:lstStyle>
            <a:lvl1pPr algn="l">
              <a:defRPr sz="4399"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156" y="4013200"/>
            <a:ext cx="8594430" cy="514248"/>
          </a:xfrm>
        </p:spPr>
        <p:txBody>
          <a:bodyPr anchor="b">
            <a:noAutofit/>
          </a:bodyPr>
          <a:lstStyle>
            <a:lvl1pPr marL="0" indent="0">
              <a:buFontTx/>
              <a:buNone/>
              <a:defRPr sz="2399">
                <a:solidFill>
                  <a:schemeClr val="accent1"/>
                </a:solidFill>
              </a:defRPr>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n-US"/>
              <a:t>Click to edit Master text styles</a:t>
            </a:r>
          </a:p>
        </p:txBody>
      </p:sp>
      <p:sp>
        <p:nvSpPr>
          <p:cNvPr id="3" name="Text Placeholder 2"/>
          <p:cNvSpPr>
            <a:spLocks noGrp="1"/>
          </p:cNvSpPr>
          <p:nvPr>
            <p:ph type="body" idx="1"/>
          </p:nvPr>
        </p:nvSpPr>
        <p:spPr>
          <a:xfrm>
            <a:off x="677159" y="4527448"/>
            <a:ext cx="8594429" cy="1513914"/>
          </a:xfrm>
        </p:spPr>
        <p:txBody>
          <a:bodyPr anchor="t">
            <a:normAutofit/>
          </a:bodyPr>
          <a:lstStyle>
            <a:lvl1pPr marL="0" indent="0" algn="l">
              <a:buNone/>
              <a:defRPr sz="1799">
                <a:solidFill>
                  <a:schemeClr val="tx1">
                    <a:lumMod val="50000"/>
                    <a:lumOff val="50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670814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436740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5599" y="609600"/>
            <a:ext cx="130440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159" y="609600"/>
            <a:ext cx="7058311"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87953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88825"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158" y="609600"/>
            <a:ext cx="8594429"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158" y="2160590"/>
            <a:ext cx="8594429"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3257" y="6041363"/>
            <a:ext cx="91170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6/13/2026</a:t>
            </a:fld>
            <a:endParaRPr lang="en-US"/>
          </a:p>
        </p:txBody>
      </p:sp>
      <p:sp>
        <p:nvSpPr>
          <p:cNvPr id="5" name="Footer Placeholder 4"/>
          <p:cNvSpPr>
            <a:spLocks noGrp="1"/>
          </p:cNvSpPr>
          <p:nvPr>
            <p:ph type="ftr" sz="quarter" idx="3"/>
          </p:nvPr>
        </p:nvSpPr>
        <p:spPr>
          <a:xfrm>
            <a:off x="677158" y="6041363"/>
            <a:ext cx="629597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88426" y="6041363"/>
            <a:ext cx="683161"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64953761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063" rtl="0" eaLnBrk="1" latinLnBrk="0" hangingPunct="1">
        <a:spcBef>
          <a:spcPct val="0"/>
        </a:spcBef>
        <a:buNone/>
        <a:defRPr sz="3599"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797" indent="-342797" algn="l" defTabSz="457063" rtl="0" eaLnBrk="1" latinLnBrk="0" hangingPunct="1">
        <a:spcBef>
          <a:spcPts val="1000"/>
        </a:spcBef>
        <a:spcAft>
          <a:spcPts val="0"/>
        </a:spcAft>
        <a:buClr>
          <a:schemeClr val="accent1"/>
        </a:buClr>
        <a:buSzPct val="80000"/>
        <a:buFont typeface="Wingdings 3" charset="2"/>
        <a:buChar char=""/>
        <a:defRPr sz="1799" kern="1200">
          <a:solidFill>
            <a:schemeClr val="tx1">
              <a:lumMod val="75000"/>
              <a:lumOff val="25000"/>
            </a:schemeClr>
          </a:solidFill>
          <a:latin typeface="+mn-lt"/>
          <a:ea typeface="+mn-ea"/>
          <a:cs typeface="+mn-cs"/>
        </a:defRPr>
      </a:lvl1pPr>
      <a:lvl2pPr marL="742727" indent="-285664" algn="l" defTabSz="457063"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657" indent="-228531" algn="l" defTabSz="457063"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599720"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6783"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3846"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0908"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7971"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5034"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063" rtl="0" eaLnBrk="1" latinLnBrk="0" hangingPunct="1">
        <a:defRPr sz="1799" kern="1200">
          <a:solidFill>
            <a:schemeClr val="tx1"/>
          </a:solidFill>
          <a:latin typeface="+mn-lt"/>
          <a:ea typeface="+mn-ea"/>
          <a:cs typeface="+mn-cs"/>
        </a:defRPr>
      </a:lvl1pPr>
      <a:lvl2pPr marL="457063" algn="l" defTabSz="457063" rtl="0" eaLnBrk="1" latinLnBrk="0" hangingPunct="1">
        <a:defRPr sz="1799" kern="1200">
          <a:solidFill>
            <a:schemeClr val="tx1"/>
          </a:solidFill>
          <a:latin typeface="+mn-lt"/>
          <a:ea typeface="+mn-ea"/>
          <a:cs typeface="+mn-cs"/>
        </a:defRPr>
      </a:lvl2pPr>
      <a:lvl3pPr marL="914126" algn="l" defTabSz="457063" rtl="0" eaLnBrk="1" latinLnBrk="0" hangingPunct="1">
        <a:defRPr sz="1799" kern="1200">
          <a:solidFill>
            <a:schemeClr val="tx1"/>
          </a:solidFill>
          <a:latin typeface="+mn-lt"/>
          <a:ea typeface="+mn-ea"/>
          <a:cs typeface="+mn-cs"/>
        </a:defRPr>
      </a:lvl3pPr>
      <a:lvl4pPr marL="1371189" algn="l" defTabSz="457063" rtl="0" eaLnBrk="1" latinLnBrk="0" hangingPunct="1">
        <a:defRPr sz="1799" kern="1200">
          <a:solidFill>
            <a:schemeClr val="tx1"/>
          </a:solidFill>
          <a:latin typeface="+mn-lt"/>
          <a:ea typeface="+mn-ea"/>
          <a:cs typeface="+mn-cs"/>
        </a:defRPr>
      </a:lvl4pPr>
      <a:lvl5pPr marL="1828251" algn="l" defTabSz="457063" rtl="0" eaLnBrk="1" latinLnBrk="0" hangingPunct="1">
        <a:defRPr sz="1799" kern="1200">
          <a:solidFill>
            <a:schemeClr val="tx1"/>
          </a:solidFill>
          <a:latin typeface="+mn-lt"/>
          <a:ea typeface="+mn-ea"/>
          <a:cs typeface="+mn-cs"/>
        </a:defRPr>
      </a:lvl5pPr>
      <a:lvl6pPr marL="2285314" algn="l" defTabSz="457063" rtl="0" eaLnBrk="1" latinLnBrk="0" hangingPunct="1">
        <a:defRPr sz="1799" kern="1200">
          <a:solidFill>
            <a:schemeClr val="tx1"/>
          </a:solidFill>
          <a:latin typeface="+mn-lt"/>
          <a:ea typeface="+mn-ea"/>
          <a:cs typeface="+mn-cs"/>
        </a:defRPr>
      </a:lvl6pPr>
      <a:lvl7pPr marL="2742377" algn="l" defTabSz="457063" rtl="0" eaLnBrk="1" latinLnBrk="0" hangingPunct="1">
        <a:defRPr sz="1799" kern="1200">
          <a:solidFill>
            <a:schemeClr val="tx1"/>
          </a:solidFill>
          <a:latin typeface="+mn-lt"/>
          <a:ea typeface="+mn-ea"/>
          <a:cs typeface="+mn-cs"/>
        </a:defRPr>
      </a:lvl7pPr>
      <a:lvl8pPr marL="3199440" algn="l" defTabSz="457063" rtl="0" eaLnBrk="1" latinLnBrk="0" hangingPunct="1">
        <a:defRPr sz="1799" kern="1200">
          <a:solidFill>
            <a:schemeClr val="tx1"/>
          </a:solidFill>
          <a:latin typeface="+mn-lt"/>
          <a:ea typeface="+mn-ea"/>
          <a:cs typeface="+mn-cs"/>
        </a:defRPr>
      </a:lvl8pPr>
      <a:lvl9pPr marL="3656503" algn="l" defTabSz="457063"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80817" y="2103120"/>
            <a:ext cx="5199885" cy="1795363"/>
          </a:xfrm>
          <a:prstGeom prst="rect">
            <a:avLst/>
          </a:prstGeom>
          <a:noFill/>
        </p:spPr>
        <p:txBody>
          <a:bodyPr wrap="none">
            <a:spAutoFit/>
          </a:bodyPr>
          <a:lstStyle/>
          <a:p>
            <a:pPr algn="ctr">
              <a:defRPr sz="4800" b="1">
                <a:solidFill>
                  <a:srgbClr val="1976D2"/>
                </a:solidFill>
              </a:defRPr>
            </a:pPr>
            <a:r>
              <a:rPr dirty="0" err="1">
                <a:latin typeface="Times New Roman" panose="02020603050405020304" pitchFamily="18" charset="0"/>
                <a:cs typeface="Times New Roman" panose="02020603050405020304" pitchFamily="18" charset="0"/>
              </a:rPr>
              <a:t>Bluestock</a:t>
            </a:r>
            <a:r>
              <a:rPr dirty="0">
                <a:latin typeface="Times New Roman" panose="02020603050405020304" pitchFamily="18" charset="0"/>
                <a:cs typeface="Times New Roman" panose="02020603050405020304" pitchFamily="18" charset="0"/>
              </a:rPr>
              <a:t> Fintech</a:t>
            </a:r>
          </a:p>
          <a:p>
            <a:pPr algn="ctr">
              <a:defRPr sz="2800">
                <a:solidFill>
                  <a:srgbClr val="0D47A1"/>
                </a:solidFill>
              </a:defRPr>
            </a:pPr>
            <a:r>
              <a:rPr dirty="0"/>
              <a:t>Mutual Fund Analytics Platform</a:t>
            </a:r>
          </a:p>
          <a:p>
            <a:pPr algn="ctr">
              <a:spcBef>
                <a:spcPts val="2000"/>
              </a:spcBef>
              <a:defRPr sz="1800">
                <a:solidFill>
                  <a:srgbClr val="606060"/>
                </a:solidFill>
              </a:defRPr>
            </a:pPr>
            <a:r>
              <a:rPr dirty="0"/>
              <a:t>Capstone Project Presentation</a:t>
            </a:r>
          </a:p>
        </p:txBody>
      </p:sp>
      <p:sp>
        <p:nvSpPr>
          <p:cNvPr id="3" name="TextBox 2"/>
          <p:cNvSpPr txBox="1"/>
          <p:nvPr/>
        </p:nvSpPr>
        <p:spPr>
          <a:xfrm>
            <a:off x="10789920" y="6446520"/>
            <a:ext cx="1188720" cy="365760"/>
          </a:xfrm>
          <a:prstGeom prst="rect">
            <a:avLst/>
          </a:prstGeom>
          <a:noFill/>
        </p:spPr>
        <p:txBody>
          <a:bodyPr wrap="none">
            <a:spAutoFit/>
          </a:bodyPr>
          <a:lstStyle/>
          <a:p>
            <a:pPr algn="r">
              <a:defRPr sz="1000">
                <a:solidFill>
                  <a:srgbClr val="606060"/>
                </a:solidFill>
              </a:defRPr>
            </a:pPr>
            <a:r>
              <a:t>Bluestock Fintech | 1/12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88828" cy="6866467"/>
            <a:chOff x="0" y="-8467"/>
            <a:chExt cx="12192000" cy="6866467"/>
          </a:xfrm>
        </p:grpSpPr>
        <p:cxnSp>
          <p:nvCxnSpPr>
            <p:cNvPr id="10" name="Straight Connector 9">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1" name="Rectangle 20">
            <a:extLst>
              <a:ext uri="{FF2B5EF4-FFF2-40B4-BE49-F238E27FC236}">
                <a16:creationId xmlns:a16="http://schemas.microsoft.com/office/drawing/2014/main" id="{603AE127-802C-459A-A612-DB85B67F0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1043678" y="1179151"/>
            <a:ext cx="3299786" cy="4463889"/>
          </a:xfrm>
          <a:prstGeom prst="rect">
            <a:avLst/>
          </a:prstGeom>
        </p:spPr>
        <p:txBody>
          <a:bodyPr vert="horz" lIns="91440" tIns="45720" rIns="91440" bIns="45720" rtlCol="0" anchor="ctr">
            <a:normAutofit/>
          </a:bodyPr>
          <a:lstStyle/>
          <a:p>
            <a:pPr>
              <a:spcBef>
                <a:spcPct val="0"/>
              </a:spcBef>
              <a:spcAft>
                <a:spcPts val="600"/>
              </a:spcAft>
              <a:defRPr sz="3200" b="1">
                <a:solidFill>
                  <a:srgbClr val="1976D2"/>
                </a:solidFill>
              </a:defRPr>
            </a:pPr>
            <a:r>
              <a:rPr lang="en-US" sz="4800" dirty="0">
                <a:solidFill>
                  <a:schemeClr val="accent1"/>
                </a:solidFill>
                <a:latin typeface="Times New Roman" panose="02020603050405020304" pitchFamily="18" charset="0"/>
                <a:ea typeface="+mj-ea"/>
                <a:cs typeface="Times New Roman" panose="02020603050405020304" pitchFamily="18" charset="0"/>
              </a:rPr>
              <a:t>Problem &amp; Objective</a:t>
            </a:r>
          </a:p>
        </p:txBody>
      </p:sp>
      <p:sp>
        <p:nvSpPr>
          <p:cNvPr id="23" name="Isosceles Triangle 22">
            <a:extLst>
              <a:ext uri="{FF2B5EF4-FFF2-40B4-BE49-F238E27FC236}">
                <a16:creationId xmlns:a16="http://schemas.microsoft.com/office/drawing/2014/main" id="{9323D83D-50D6-4040-A58B-FCEA340F8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0"/>
            <a:ext cx="448616"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cxnSp>
        <p:nvCxnSpPr>
          <p:cNvPr id="25" name="Straight Connector 24">
            <a:extLst>
              <a:ext uri="{FF2B5EF4-FFF2-40B4-BE49-F238E27FC236}">
                <a16:creationId xmlns:a16="http://schemas.microsoft.com/office/drawing/2014/main" id="{1A1FE6BB-DFB2-4080-9B5E-076EF5DDE6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5457" y="1442595"/>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4977621" y="1109145"/>
            <a:ext cx="6339365" cy="4603900"/>
          </a:xfrm>
          <a:prstGeom prst="rect">
            <a:avLst/>
          </a:prstGeom>
        </p:spPr>
        <p:txBody>
          <a:bodyPr vert="horz" lIns="91440" tIns="45720" rIns="91440" bIns="45720" rtlCol="0" anchor="ctr">
            <a:normAutofit/>
          </a:bodyPr>
          <a:lstStyle/>
          <a:p>
            <a:pPr>
              <a:spcBef>
                <a:spcPts val="1000"/>
              </a:spcBef>
              <a:buClr>
                <a:schemeClr val="accent1"/>
              </a:buClr>
              <a:buSzPct val="80000"/>
              <a:buFont typeface="Wingdings 3" charset="2"/>
              <a:buChar char=""/>
              <a:defRPr sz="2000"/>
            </a:pPr>
            <a:r>
              <a:rPr lang="en-US" sz="2000">
                <a:solidFill>
                  <a:schemeClr val="tx1">
                    <a:lumMod val="75000"/>
                    <a:lumOff val="25000"/>
                  </a:schemeClr>
                </a:solidFill>
              </a:rPr>
              <a:t>•  India's mutual fund industry manages Rs.81 lakh crore across 1,908 schemes and 26.12 crore investor folios, but data is fragmented across AMFI, NSE/BSE and third-party APIs.</a:t>
            </a:r>
          </a:p>
          <a:p>
            <a:pPr>
              <a:spcBef>
                <a:spcPts val="1000"/>
              </a:spcBef>
              <a:buClr>
                <a:schemeClr val="accent1"/>
              </a:buClr>
              <a:buSzPct val="80000"/>
              <a:buFont typeface="Wingdings 3" charset="2"/>
              <a:buChar char=""/>
              <a:defRPr sz="2000"/>
            </a:pPr>
            <a:r>
              <a:rPr lang="en-US" sz="2000">
                <a:solidFill>
                  <a:schemeClr val="tx1">
                    <a:lumMod val="75000"/>
                    <a:lumOff val="25000"/>
                  </a:schemeClr>
                </a:solidFill>
              </a:rPr>
              <a:t>•  Investors struggle to compare funds on a risk-adjusted basis - raw NAV data requires significant transformation to compute Sharpe, Alpha, Beta, etc.</a:t>
            </a:r>
          </a:p>
          <a:p>
            <a:pPr>
              <a:spcBef>
                <a:spcPts val="1000"/>
              </a:spcBef>
              <a:buClr>
                <a:schemeClr val="accent1"/>
              </a:buClr>
              <a:buSzPct val="80000"/>
              <a:buFont typeface="Wingdings 3" charset="2"/>
              <a:buChar char=""/>
              <a:defRPr sz="2000"/>
            </a:pPr>
            <a:r>
              <a:rPr lang="en-US" sz="2000">
                <a:solidFill>
                  <a:schemeClr val="tx1">
                    <a:lumMod val="75000"/>
                    <a:lumOff val="25000"/>
                  </a:schemeClr>
                </a:solidFill>
              </a:rPr>
              <a:t>•  Most retail investors don't know if their fund is beating its benchmark.</a:t>
            </a:r>
          </a:p>
          <a:p>
            <a:pPr>
              <a:spcBef>
                <a:spcPts val="1000"/>
              </a:spcBef>
              <a:buClr>
                <a:schemeClr val="accent1"/>
              </a:buClr>
              <a:buSzPct val="80000"/>
              <a:buFont typeface="Wingdings 3" charset="2"/>
              <a:buChar char=""/>
              <a:defRPr sz="2000"/>
            </a:pPr>
            <a:r>
              <a:rPr lang="en-US" sz="2000">
                <a:solidFill>
                  <a:schemeClr val="tx1">
                    <a:lumMod val="75000"/>
                    <a:lumOff val="25000"/>
                  </a:schemeClr>
                </a:solidFill>
              </a:rPr>
              <a:t>•  Objective: Build an end-to-end analytics platform - ETL pipeline, SQLite database, EDA, performance/risk metrics, interactive dashboard, and investor behaviour analytics.</a:t>
            </a:r>
          </a:p>
        </p:txBody>
      </p:sp>
      <p:sp>
        <p:nvSpPr>
          <p:cNvPr id="27" name="Isosceles Triangle 26">
            <a:extLst>
              <a:ext uri="{FF2B5EF4-FFF2-40B4-BE49-F238E27FC236}">
                <a16:creationId xmlns:a16="http://schemas.microsoft.com/office/drawing/2014/main" id="{F10FD715-4DCE-4779-B634-EC78315EA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1361179" y="0"/>
            <a:ext cx="842377" cy="4616289"/>
          </a:xfrm>
          <a:prstGeom prst="triangle">
            <a:avLst>
              <a:gd name="adj" fmla="val 10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4" name="TextBox 3"/>
          <p:cNvSpPr txBox="1"/>
          <p:nvPr/>
        </p:nvSpPr>
        <p:spPr>
          <a:xfrm>
            <a:off x="10359286" y="6446520"/>
            <a:ext cx="1619354" cy="246221"/>
          </a:xfrm>
          <a:prstGeom prst="rect">
            <a:avLst/>
          </a:prstGeom>
          <a:noFill/>
        </p:spPr>
        <p:txBody>
          <a:bodyPr wrap="none">
            <a:spAutoFit/>
          </a:bodyPr>
          <a:lstStyle/>
          <a:p>
            <a:pPr algn="r">
              <a:spcAft>
                <a:spcPts val="600"/>
              </a:spcAft>
              <a:defRPr sz="1000">
                <a:solidFill>
                  <a:srgbClr val="606060"/>
                </a:solidFill>
              </a:defRPr>
            </a:pPr>
            <a:r>
              <a:rPr lang="en-IN" sz="1000"/>
              <a:t>Bluestock Fintech | 2/12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88828" cy="6866467"/>
            <a:chOff x="0" y="-8467"/>
            <a:chExt cx="12192000" cy="6866467"/>
          </a:xfrm>
        </p:grpSpPr>
        <p:cxnSp>
          <p:nvCxnSpPr>
            <p:cNvPr id="10" name="Straight Connector 9">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1" name="Rectangle 20">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1333154" y="609600"/>
            <a:ext cx="8594430" cy="1320800"/>
          </a:xfrm>
          <a:prstGeom prst="rect">
            <a:avLst/>
          </a:prstGeom>
        </p:spPr>
        <p:txBody>
          <a:bodyPr vert="horz" lIns="91440" tIns="45720" rIns="91440" bIns="45720" rtlCol="0" anchor="t">
            <a:normAutofit/>
          </a:bodyPr>
          <a:lstStyle/>
          <a:p>
            <a:pPr>
              <a:spcBef>
                <a:spcPct val="0"/>
              </a:spcBef>
              <a:spcAft>
                <a:spcPts val="600"/>
              </a:spcAft>
              <a:defRPr sz="3200" b="1">
                <a:solidFill>
                  <a:srgbClr val="1976D2"/>
                </a:solidFill>
              </a:defRPr>
            </a:pPr>
            <a:r>
              <a:rPr lang="en-US" sz="4800" dirty="0">
                <a:solidFill>
                  <a:schemeClr val="accent1"/>
                </a:solidFill>
                <a:latin typeface="Times New Roman" panose="02020603050405020304" pitchFamily="18" charset="0"/>
                <a:ea typeface="+mj-ea"/>
                <a:cs typeface="Times New Roman" panose="02020603050405020304" pitchFamily="18" charset="0"/>
              </a:rPr>
              <a:t>Data Sources &amp; Datasets</a:t>
            </a:r>
          </a:p>
        </p:txBody>
      </p:sp>
      <p:sp>
        <p:nvSpPr>
          <p:cNvPr id="23" name="Isosceles Triangle 22">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37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 name="TextBox 2"/>
          <p:cNvSpPr txBox="1"/>
          <p:nvPr/>
        </p:nvSpPr>
        <p:spPr>
          <a:xfrm>
            <a:off x="1333154" y="2160589"/>
            <a:ext cx="8594430" cy="3880773"/>
          </a:xfrm>
          <a:prstGeom prst="rect">
            <a:avLst/>
          </a:prstGeom>
        </p:spPr>
        <p:txBody>
          <a:bodyPr vert="horz" lIns="91440" tIns="45720" rIns="91440" bIns="45720" rtlCol="0">
            <a:normAutofit/>
          </a:bodyPr>
          <a:lstStyle/>
          <a:p>
            <a:pPr>
              <a:spcBef>
                <a:spcPts val="1000"/>
              </a:spcBef>
              <a:buClr>
                <a:schemeClr val="accent1"/>
              </a:buClr>
              <a:buSzPct val="80000"/>
              <a:buFont typeface="Wingdings 3" charset="2"/>
              <a:buChar char=""/>
              <a:defRPr sz="2000"/>
            </a:pPr>
            <a:r>
              <a:rPr lang="en-US" sz="2000">
                <a:solidFill>
                  <a:schemeClr val="tx1">
                    <a:lumMod val="75000"/>
                    <a:lumOff val="25000"/>
                  </a:schemeClr>
                </a:solidFill>
              </a:rPr>
              <a:t>•  10 provided CSV datasets: fund master (40 schemes), NAV history (46,000 rows), AUM by fund house, monthly SIP inflows, category inflows, folio counts, scheme performance, investor transactions (32,778 rows), portfolio holdings, benchmark indices (8,050 rows).</a:t>
            </a:r>
          </a:p>
          <a:p>
            <a:pPr>
              <a:spcBef>
                <a:spcPts val="1000"/>
              </a:spcBef>
              <a:buClr>
                <a:schemeClr val="accent1"/>
              </a:buClr>
              <a:buSzPct val="80000"/>
              <a:buFont typeface="Wingdings 3" charset="2"/>
              <a:buChar char=""/>
              <a:defRPr sz="2000"/>
            </a:pPr>
            <a:r>
              <a:rPr lang="en-US" sz="2000">
                <a:solidFill>
                  <a:schemeClr val="tx1">
                    <a:lumMod val="75000"/>
                    <a:lumOff val="25000"/>
                  </a:schemeClr>
                </a:solidFill>
              </a:rPr>
              <a:t>•  Live data: mfapi.in REST API used to fetch real-time NAV for 6 large-cap schemes (HDFC Top 100, SBI/ICICI/Axis/Kotak Bluechip, Nippon Large Cap).</a:t>
            </a:r>
          </a:p>
          <a:p>
            <a:pPr>
              <a:spcBef>
                <a:spcPts val="1000"/>
              </a:spcBef>
              <a:buClr>
                <a:schemeClr val="accent1"/>
              </a:buClr>
              <a:buSzPct val="80000"/>
              <a:buFont typeface="Wingdings 3" charset="2"/>
              <a:buChar char=""/>
              <a:defRPr sz="2000"/>
            </a:pPr>
            <a:r>
              <a:rPr lang="en-US" sz="2000">
                <a:solidFill>
                  <a:schemeClr val="tx1">
                    <a:lumMod val="75000"/>
                    <a:lumOff val="25000"/>
                  </a:schemeClr>
                </a:solidFill>
              </a:rPr>
              <a:t>•  All AMFI codes, fund names, expense ratios and AUM figures sourced from real AMFI India / mfapi.in data. Investor transactions are simulated using real demographic and geographic distributions.</a:t>
            </a:r>
          </a:p>
        </p:txBody>
      </p:sp>
      <p:sp>
        <p:nvSpPr>
          <p:cNvPr id="25" name="Isosceles Triangle 24">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0208" y="4013200"/>
            <a:ext cx="448617"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4" name="TextBox 3"/>
          <p:cNvSpPr txBox="1"/>
          <p:nvPr/>
        </p:nvSpPr>
        <p:spPr>
          <a:xfrm>
            <a:off x="10359286" y="6446520"/>
            <a:ext cx="1619354" cy="246221"/>
          </a:xfrm>
          <a:prstGeom prst="rect">
            <a:avLst/>
          </a:prstGeom>
          <a:noFill/>
        </p:spPr>
        <p:txBody>
          <a:bodyPr wrap="none">
            <a:spAutoFit/>
          </a:bodyPr>
          <a:lstStyle/>
          <a:p>
            <a:pPr algn="r">
              <a:spcAft>
                <a:spcPts val="600"/>
              </a:spcAft>
              <a:defRPr sz="1000">
                <a:solidFill>
                  <a:srgbClr val="606060"/>
                </a:solidFill>
              </a:defRPr>
            </a:pPr>
            <a:r>
              <a:rPr lang="en-IN" sz="1000"/>
              <a:t>Bluestock Fintech | 3/12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88828" cy="6866467"/>
            <a:chOff x="0" y="-8467"/>
            <a:chExt cx="12192000" cy="6866467"/>
          </a:xfrm>
        </p:grpSpPr>
        <p:cxnSp>
          <p:nvCxnSpPr>
            <p:cNvPr id="10" name="Straight Connector 9">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1" name="Rectangle 20">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1333154" y="609600"/>
            <a:ext cx="8594430" cy="1320800"/>
          </a:xfrm>
          <a:prstGeom prst="rect">
            <a:avLst/>
          </a:prstGeom>
        </p:spPr>
        <p:txBody>
          <a:bodyPr vert="horz" lIns="91440" tIns="45720" rIns="91440" bIns="45720" rtlCol="0" anchor="t">
            <a:normAutofit/>
          </a:bodyPr>
          <a:lstStyle/>
          <a:p>
            <a:pPr>
              <a:spcBef>
                <a:spcPct val="0"/>
              </a:spcBef>
              <a:spcAft>
                <a:spcPts val="600"/>
              </a:spcAft>
              <a:defRPr sz="3200" b="1">
                <a:solidFill>
                  <a:srgbClr val="1976D2"/>
                </a:solidFill>
              </a:defRPr>
            </a:pPr>
            <a:r>
              <a:rPr lang="en-US" sz="4800" dirty="0">
                <a:solidFill>
                  <a:schemeClr val="accent1"/>
                </a:solidFill>
                <a:latin typeface="Times New Roman" panose="02020603050405020304" pitchFamily="18" charset="0"/>
                <a:ea typeface="+mj-ea"/>
                <a:cs typeface="Times New Roman" panose="02020603050405020304" pitchFamily="18" charset="0"/>
              </a:rPr>
              <a:t>System Architecture</a:t>
            </a:r>
          </a:p>
        </p:txBody>
      </p:sp>
      <p:sp>
        <p:nvSpPr>
          <p:cNvPr id="23" name="Isosceles Triangle 22">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37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 name="TextBox 2"/>
          <p:cNvSpPr txBox="1"/>
          <p:nvPr/>
        </p:nvSpPr>
        <p:spPr>
          <a:xfrm>
            <a:off x="1333154" y="2160589"/>
            <a:ext cx="8594430" cy="3880773"/>
          </a:xfrm>
          <a:prstGeom prst="rect">
            <a:avLst/>
          </a:prstGeom>
        </p:spPr>
        <p:txBody>
          <a:bodyPr vert="horz" lIns="91440" tIns="45720" rIns="91440" bIns="45720" rtlCol="0">
            <a:normAutofit/>
          </a:bodyPr>
          <a:lstStyle/>
          <a:p>
            <a:pPr>
              <a:spcBef>
                <a:spcPts val="1000"/>
              </a:spcBef>
              <a:buClr>
                <a:schemeClr val="accent1"/>
              </a:buClr>
              <a:buSzPct val="80000"/>
              <a:buFont typeface="Wingdings 3" charset="2"/>
              <a:buChar char=""/>
              <a:defRPr sz="2000"/>
            </a:pPr>
            <a:r>
              <a:rPr lang="en-US" sz="2000">
                <a:solidFill>
                  <a:schemeClr val="tx1">
                    <a:lumMod val="75000"/>
                    <a:lumOff val="25000"/>
                  </a:schemeClr>
                </a:solidFill>
              </a:rPr>
              <a:t>•  Layer 1 - Extract: 10 CSV files + mfapi.in REST API</a:t>
            </a:r>
          </a:p>
          <a:p>
            <a:pPr>
              <a:spcBef>
                <a:spcPts val="1000"/>
              </a:spcBef>
              <a:buClr>
                <a:schemeClr val="accent1"/>
              </a:buClr>
              <a:buSzPct val="80000"/>
              <a:buFont typeface="Wingdings 3" charset="2"/>
              <a:buChar char=""/>
              <a:defRPr sz="2000"/>
            </a:pPr>
            <a:r>
              <a:rPr lang="en-US" sz="2000">
                <a:solidFill>
                  <a:schemeClr val="tx1">
                    <a:lumMod val="75000"/>
                    <a:lumOff val="25000"/>
                  </a:schemeClr>
                </a:solidFill>
              </a:rPr>
              <a:t>•  Layer 2 - Transform: Python/Pandas - date parsing, forward-fill, deduplication, validation, daily return calculation</a:t>
            </a:r>
          </a:p>
          <a:p>
            <a:pPr>
              <a:spcBef>
                <a:spcPts val="1000"/>
              </a:spcBef>
              <a:buClr>
                <a:schemeClr val="accent1"/>
              </a:buClr>
              <a:buSzPct val="80000"/>
              <a:buFont typeface="Wingdings 3" charset="2"/>
              <a:buChar char=""/>
              <a:defRPr sz="2000"/>
            </a:pPr>
            <a:r>
              <a:rPr lang="en-US" sz="2000">
                <a:solidFill>
                  <a:schemeClr val="tx1">
                    <a:lumMod val="75000"/>
                    <a:lumOff val="25000"/>
                  </a:schemeClr>
                </a:solidFill>
              </a:rPr>
              <a:t>•  Layer 3 - Load: SQLite star schema - 1 dimension table (dim_fund) + 6 fact tables (nav, transactions, performance, portfolio, AUM, SIP), 79,318 total rows</a:t>
            </a:r>
          </a:p>
          <a:p>
            <a:pPr>
              <a:spcBef>
                <a:spcPts val="1000"/>
              </a:spcBef>
              <a:buClr>
                <a:schemeClr val="accent1"/>
              </a:buClr>
              <a:buSzPct val="80000"/>
              <a:buFont typeface="Wingdings 3" charset="2"/>
              <a:buChar char=""/>
              <a:defRPr sz="2000"/>
            </a:pPr>
            <a:r>
              <a:rPr lang="en-US" sz="2000">
                <a:solidFill>
                  <a:schemeClr val="tx1">
                    <a:lumMod val="75000"/>
                    <a:lumOff val="25000"/>
                  </a:schemeClr>
                </a:solidFill>
              </a:rPr>
              <a:t>•  Layer 4 - Analyse: Jupyter notebooks - EDA, Sharpe/Sortino/Alpha/Beta/VaR/HHI</a:t>
            </a:r>
          </a:p>
          <a:p>
            <a:pPr>
              <a:spcBef>
                <a:spcPts val="1000"/>
              </a:spcBef>
              <a:buClr>
                <a:schemeClr val="accent1"/>
              </a:buClr>
              <a:buSzPct val="80000"/>
              <a:buFont typeface="Wingdings 3" charset="2"/>
              <a:buChar char=""/>
              <a:defRPr sz="2000"/>
            </a:pPr>
            <a:r>
              <a:rPr lang="en-US" sz="2000">
                <a:solidFill>
                  <a:schemeClr val="tx1">
                    <a:lumMod val="75000"/>
                    <a:lumOff val="25000"/>
                  </a:schemeClr>
                </a:solidFill>
              </a:rPr>
              <a:t>•  Layer 5 - Visualise: Power BI dashboard - 4 interactive pages with slicers</a:t>
            </a:r>
          </a:p>
        </p:txBody>
      </p:sp>
      <p:sp>
        <p:nvSpPr>
          <p:cNvPr id="25" name="Isosceles Triangle 24">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0208" y="4013200"/>
            <a:ext cx="448617"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4" name="TextBox 3"/>
          <p:cNvSpPr txBox="1"/>
          <p:nvPr/>
        </p:nvSpPr>
        <p:spPr>
          <a:xfrm>
            <a:off x="10359286" y="6446520"/>
            <a:ext cx="1619354" cy="246221"/>
          </a:xfrm>
          <a:prstGeom prst="rect">
            <a:avLst/>
          </a:prstGeom>
          <a:noFill/>
        </p:spPr>
        <p:txBody>
          <a:bodyPr wrap="none">
            <a:spAutoFit/>
          </a:bodyPr>
          <a:lstStyle/>
          <a:p>
            <a:pPr algn="r">
              <a:spcAft>
                <a:spcPts val="600"/>
              </a:spcAft>
              <a:defRPr sz="1000">
                <a:solidFill>
                  <a:srgbClr val="606060"/>
                </a:solidFill>
              </a:defRPr>
            </a:pPr>
            <a:r>
              <a:rPr lang="en-IN" sz="1000"/>
              <a:t>Bluestock Fintech | 4/12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4472891" cy="646331"/>
          </a:xfrm>
          <a:prstGeom prst="rect">
            <a:avLst/>
          </a:prstGeom>
          <a:noFill/>
        </p:spPr>
        <p:txBody>
          <a:bodyPr wrap="none">
            <a:spAutoFit/>
          </a:bodyPr>
          <a:lstStyle/>
          <a:p>
            <a:pPr>
              <a:defRPr sz="3200" b="1">
                <a:solidFill>
                  <a:srgbClr val="1976D2"/>
                </a:solidFill>
              </a:defRPr>
            </a:pPr>
            <a:r>
              <a:rPr sz="3600" dirty="0">
                <a:latin typeface="Times New Roman" panose="02020603050405020304" pitchFamily="18" charset="0"/>
                <a:cs typeface="Times New Roman" panose="02020603050405020304" pitchFamily="18" charset="0"/>
              </a:rPr>
              <a:t>EDA Highlights (1/2)</a:t>
            </a:r>
          </a:p>
        </p:txBody>
      </p:sp>
      <p:pic>
        <p:nvPicPr>
          <p:cNvPr id="3" name="Picture 2" descr="nav_trends_equity.png"/>
          <p:cNvPicPr>
            <a:picLocks noChangeAspect="1"/>
          </p:cNvPicPr>
          <p:nvPr/>
        </p:nvPicPr>
        <p:blipFill>
          <a:blip r:embed="rId2"/>
          <a:stretch>
            <a:fillRect/>
          </a:stretch>
        </p:blipFill>
        <p:spPr>
          <a:xfrm>
            <a:off x="548640" y="1463040"/>
            <a:ext cx="5486400" cy="2374676"/>
          </a:xfrm>
          <a:prstGeom prst="rect">
            <a:avLst/>
          </a:prstGeom>
        </p:spPr>
      </p:pic>
      <p:pic>
        <p:nvPicPr>
          <p:cNvPr id="4" name="Picture 3" descr="sip_inflow_trend.png"/>
          <p:cNvPicPr>
            <a:picLocks noChangeAspect="1"/>
          </p:cNvPicPr>
          <p:nvPr/>
        </p:nvPicPr>
        <p:blipFill>
          <a:blip r:embed="rId3"/>
          <a:stretch>
            <a:fillRect/>
          </a:stretch>
        </p:blipFill>
        <p:spPr>
          <a:xfrm>
            <a:off x="6309360" y="1463040"/>
            <a:ext cx="5486400" cy="2035352"/>
          </a:xfrm>
          <a:prstGeom prst="rect">
            <a:avLst/>
          </a:prstGeom>
        </p:spPr>
      </p:pic>
      <p:sp>
        <p:nvSpPr>
          <p:cNvPr id="5" name="TextBox 4"/>
          <p:cNvSpPr txBox="1"/>
          <p:nvPr/>
        </p:nvSpPr>
        <p:spPr>
          <a:xfrm>
            <a:off x="731520" y="5212080"/>
            <a:ext cx="10698480" cy="4572000"/>
          </a:xfrm>
          <a:prstGeom prst="rect">
            <a:avLst/>
          </a:prstGeom>
          <a:noFill/>
        </p:spPr>
        <p:txBody>
          <a:bodyPr wrap="square">
            <a:spAutoFit/>
          </a:bodyPr>
          <a:lstStyle/>
          <a:p>
            <a:pPr>
              <a:spcAft>
                <a:spcPts val="1000"/>
              </a:spcAft>
              <a:defRPr sz="1600"/>
            </a:pPr>
            <a:r>
              <a:t>•  All 40 equity funds show consistent NAV growth 2022-2026</a:t>
            </a:r>
          </a:p>
          <a:p>
            <a:pPr>
              <a:spcAft>
                <a:spcPts val="1000"/>
              </a:spcAft>
              <a:defRPr sz="1600"/>
            </a:pPr>
            <a:r>
              <a:t>•  Monthly SIP inflows grew 169% - Rs.11,517 Cr to Rs.31,002 Cr (Dec 2025 ATH)</a:t>
            </a:r>
          </a:p>
        </p:txBody>
      </p:sp>
      <p:sp>
        <p:nvSpPr>
          <p:cNvPr id="6" name="TextBox 5"/>
          <p:cNvSpPr txBox="1"/>
          <p:nvPr/>
        </p:nvSpPr>
        <p:spPr>
          <a:xfrm>
            <a:off x="10789920" y="6446520"/>
            <a:ext cx="1188720" cy="365760"/>
          </a:xfrm>
          <a:prstGeom prst="rect">
            <a:avLst/>
          </a:prstGeom>
          <a:noFill/>
        </p:spPr>
        <p:txBody>
          <a:bodyPr wrap="none">
            <a:spAutoFit/>
          </a:bodyPr>
          <a:lstStyle/>
          <a:p>
            <a:pPr algn="r">
              <a:defRPr sz="1000">
                <a:solidFill>
                  <a:srgbClr val="606060"/>
                </a:solidFill>
              </a:defRPr>
            </a:pPr>
            <a:r>
              <a:t>Bluestock Fintech | 5/12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4472891" cy="646331"/>
          </a:xfrm>
          <a:prstGeom prst="rect">
            <a:avLst/>
          </a:prstGeom>
          <a:noFill/>
        </p:spPr>
        <p:txBody>
          <a:bodyPr wrap="none">
            <a:spAutoFit/>
          </a:bodyPr>
          <a:lstStyle/>
          <a:p>
            <a:pPr>
              <a:defRPr sz="3200" b="1">
                <a:solidFill>
                  <a:srgbClr val="1976D2"/>
                </a:solidFill>
              </a:defRPr>
            </a:pPr>
            <a:r>
              <a:rPr sz="3600" dirty="0">
                <a:latin typeface="Times New Roman" panose="02020603050405020304" pitchFamily="18" charset="0"/>
                <a:cs typeface="Times New Roman" panose="02020603050405020304" pitchFamily="18" charset="0"/>
              </a:rPr>
              <a:t>EDA Highlights (2/2)</a:t>
            </a:r>
          </a:p>
        </p:txBody>
      </p:sp>
      <p:pic>
        <p:nvPicPr>
          <p:cNvPr id="3" name="Picture 2" descr="folio_count_growth.png"/>
          <p:cNvPicPr>
            <a:picLocks noChangeAspect="1"/>
          </p:cNvPicPr>
          <p:nvPr/>
        </p:nvPicPr>
        <p:blipFill>
          <a:blip r:embed="rId2"/>
          <a:stretch>
            <a:fillRect/>
          </a:stretch>
        </p:blipFill>
        <p:spPr>
          <a:xfrm>
            <a:off x="548640" y="1463040"/>
            <a:ext cx="5486400" cy="2319540"/>
          </a:xfrm>
          <a:prstGeom prst="rect">
            <a:avLst/>
          </a:prstGeom>
        </p:spPr>
      </p:pic>
      <p:pic>
        <p:nvPicPr>
          <p:cNvPr id="4" name="Picture 3" descr="sector_allocation_donut.png"/>
          <p:cNvPicPr>
            <a:picLocks noChangeAspect="1"/>
          </p:cNvPicPr>
          <p:nvPr/>
        </p:nvPicPr>
        <p:blipFill>
          <a:blip r:embed="rId3"/>
          <a:stretch>
            <a:fillRect/>
          </a:stretch>
        </p:blipFill>
        <p:spPr>
          <a:xfrm>
            <a:off x="6309360" y="1463040"/>
            <a:ext cx="5486400" cy="5426565"/>
          </a:xfrm>
          <a:prstGeom prst="rect">
            <a:avLst/>
          </a:prstGeom>
        </p:spPr>
      </p:pic>
      <p:sp>
        <p:nvSpPr>
          <p:cNvPr id="5" name="TextBox 4"/>
          <p:cNvSpPr txBox="1"/>
          <p:nvPr/>
        </p:nvSpPr>
        <p:spPr>
          <a:xfrm>
            <a:off x="731520" y="5212080"/>
            <a:ext cx="10698480" cy="4572000"/>
          </a:xfrm>
          <a:prstGeom prst="rect">
            <a:avLst/>
          </a:prstGeom>
          <a:noFill/>
        </p:spPr>
        <p:txBody>
          <a:bodyPr wrap="square">
            <a:spAutoFit/>
          </a:bodyPr>
          <a:lstStyle/>
          <a:p>
            <a:pPr>
              <a:spcAft>
                <a:spcPts val="1000"/>
              </a:spcAft>
              <a:defRPr sz="1600"/>
            </a:pPr>
            <a:r>
              <a:t>•  Folio count nearly doubled - 13.26 Cr to 26.12 Cr (97% growth in 4 years)</a:t>
            </a:r>
          </a:p>
          <a:p>
            <a:pPr>
              <a:spcAft>
                <a:spcPts val="1000"/>
              </a:spcAft>
              <a:defRPr sz="1600"/>
            </a:pPr>
            <a:r>
              <a:t>•  Banking &amp; Financial Services dominates sector allocation (25-30%)</a:t>
            </a:r>
          </a:p>
        </p:txBody>
      </p:sp>
      <p:sp>
        <p:nvSpPr>
          <p:cNvPr id="6" name="TextBox 5"/>
          <p:cNvSpPr txBox="1"/>
          <p:nvPr/>
        </p:nvSpPr>
        <p:spPr>
          <a:xfrm>
            <a:off x="10789920" y="6446520"/>
            <a:ext cx="1188720" cy="365760"/>
          </a:xfrm>
          <a:prstGeom prst="rect">
            <a:avLst/>
          </a:prstGeom>
          <a:noFill/>
        </p:spPr>
        <p:txBody>
          <a:bodyPr wrap="none">
            <a:spAutoFit/>
          </a:bodyPr>
          <a:lstStyle/>
          <a:p>
            <a:pPr algn="r">
              <a:defRPr sz="1000">
                <a:solidFill>
                  <a:srgbClr val="606060"/>
                </a:solidFill>
              </a:defRPr>
            </a:pPr>
            <a:r>
              <a:t>Bluestock Fintech | 6/12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5391219" cy="646331"/>
          </a:xfrm>
          <a:prstGeom prst="rect">
            <a:avLst/>
          </a:prstGeom>
          <a:noFill/>
        </p:spPr>
        <p:txBody>
          <a:bodyPr wrap="none">
            <a:spAutoFit/>
          </a:bodyPr>
          <a:lstStyle/>
          <a:p>
            <a:pPr>
              <a:defRPr sz="3200" b="1">
                <a:solidFill>
                  <a:srgbClr val="1976D2"/>
                </a:solidFill>
              </a:defRPr>
            </a:pPr>
            <a:r>
              <a:rPr sz="3600" dirty="0">
                <a:latin typeface="Times New Roman" panose="02020603050405020304" pitchFamily="18" charset="0"/>
                <a:cs typeface="Times New Roman" panose="02020603050405020304" pitchFamily="18" charset="0"/>
              </a:rPr>
              <a:t>Performance Metrics (1/2)</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2000"/>
            </a:pPr>
            <a:r>
              <a:t>•  Annualised returns computed for all 40 funds using 252 trading days</a:t>
            </a:r>
          </a:p>
          <a:p>
            <a:pPr>
              <a:spcAft>
                <a:spcPts val="1000"/>
              </a:spcAft>
              <a:defRPr sz="2000"/>
            </a:pPr>
            <a:r>
              <a:t>•  CAGR (1yr, 3yr, 4yr) - Best 3yr: Axis Midcap at 36.07%</a:t>
            </a:r>
          </a:p>
          <a:p>
            <a:pPr>
              <a:spcAft>
                <a:spcPts val="1000"/>
              </a:spcAft>
              <a:defRPr sz="2000"/>
            </a:pPr>
            <a:r>
              <a:t>•  Sharpe Ratio (Rf=6.5%) - Best: Mirae Asset Large Cap at 1.45</a:t>
            </a:r>
          </a:p>
          <a:p>
            <a:pPr>
              <a:spcAft>
                <a:spcPts val="1000"/>
              </a:spcAft>
              <a:defRPr sz="2000"/>
            </a:pPr>
            <a:r>
              <a:t>•  Sortino Ratio - Best: Mirae Asset Large Cap at 2.39</a:t>
            </a:r>
          </a:p>
          <a:p>
            <a:pPr>
              <a:spcAft>
                <a:spcPts val="1000"/>
              </a:spcAft>
              <a:defRPr sz="2000"/>
            </a:pPr>
            <a:r>
              <a:t>•  Alpha &amp; Beta vs Nifty 100 computed via OLS regression</a:t>
            </a:r>
          </a:p>
          <a:p>
            <a:pPr>
              <a:spcAft>
                <a:spcPts val="1000"/>
              </a:spcAft>
              <a:defRPr sz="2000"/>
            </a:pPr>
            <a:r>
              <a:t>•  Max Drawdown - Worst: SBI Small Cap Direct at -52.57% (needed 110.86% to recover)</a:t>
            </a:r>
          </a:p>
        </p:txBody>
      </p:sp>
      <p:sp>
        <p:nvSpPr>
          <p:cNvPr id="4" name="TextBox 3"/>
          <p:cNvSpPr txBox="1"/>
          <p:nvPr/>
        </p:nvSpPr>
        <p:spPr>
          <a:xfrm>
            <a:off x="10789920" y="6446520"/>
            <a:ext cx="1188720" cy="365760"/>
          </a:xfrm>
          <a:prstGeom prst="rect">
            <a:avLst/>
          </a:prstGeom>
          <a:noFill/>
        </p:spPr>
        <p:txBody>
          <a:bodyPr wrap="none">
            <a:spAutoFit/>
          </a:bodyPr>
          <a:lstStyle/>
          <a:p>
            <a:pPr algn="r">
              <a:defRPr sz="1000">
                <a:solidFill>
                  <a:srgbClr val="606060"/>
                </a:solidFill>
              </a:defRPr>
            </a:pPr>
            <a:r>
              <a:t>Bluestock Fintech | 7/12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8935138" cy="646331"/>
          </a:xfrm>
          <a:prstGeom prst="rect">
            <a:avLst/>
          </a:prstGeom>
          <a:noFill/>
        </p:spPr>
        <p:txBody>
          <a:bodyPr wrap="none">
            <a:spAutoFit/>
          </a:bodyPr>
          <a:lstStyle/>
          <a:p>
            <a:pPr>
              <a:defRPr sz="3200" b="1">
                <a:solidFill>
                  <a:srgbClr val="1976D2"/>
                </a:solidFill>
              </a:defRPr>
            </a:pPr>
            <a:r>
              <a:rPr sz="3600" dirty="0">
                <a:latin typeface="Times New Roman" panose="02020603050405020304" pitchFamily="18" charset="0"/>
                <a:cs typeface="Times New Roman" panose="02020603050405020304" pitchFamily="18" charset="0"/>
              </a:rPr>
              <a:t>Performance Metrics (2/2) - Fund Scorecard</a:t>
            </a:r>
          </a:p>
        </p:txBody>
      </p:sp>
      <p:pic>
        <p:nvPicPr>
          <p:cNvPr id="3" name="Picture 2" descr="fund_scorecard.png"/>
          <p:cNvPicPr>
            <a:picLocks noChangeAspect="1"/>
          </p:cNvPicPr>
          <p:nvPr/>
        </p:nvPicPr>
        <p:blipFill>
          <a:blip r:embed="rId2"/>
          <a:stretch>
            <a:fillRect/>
          </a:stretch>
        </p:blipFill>
        <p:spPr>
          <a:xfrm>
            <a:off x="2286000" y="1371600"/>
            <a:ext cx="7083812" cy="5029200"/>
          </a:xfrm>
          <a:prstGeom prst="rect">
            <a:avLst/>
          </a:prstGeom>
        </p:spPr>
      </p:pic>
      <p:sp>
        <p:nvSpPr>
          <p:cNvPr id="4" name="TextBox 3"/>
          <p:cNvSpPr txBox="1"/>
          <p:nvPr/>
        </p:nvSpPr>
        <p:spPr>
          <a:xfrm>
            <a:off x="10789920" y="6446520"/>
            <a:ext cx="1188720" cy="365760"/>
          </a:xfrm>
          <a:prstGeom prst="rect">
            <a:avLst/>
          </a:prstGeom>
          <a:noFill/>
        </p:spPr>
        <p:txBody>
          <a:bodyPr wrap="none">
            <a:spAutoFit/>
          </a:bodyPr>
          <a:lstStyle/>
          <a:p>
            <a:pPr algn="r">
              <a:defRPr sz="1000">
                <a:solidFill>
                  <a:srgbClr val="606060"/>
                </a:solidFill>
              </a:defRPr>
            </a:pPr>
            <a:r>
              <a:t>Bluestock Fintech | 8/12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5644494" cy="646331"/>
          </a:xfrm>
          <a:prstGeom prst="rect">
            <a:avLst/>
          </a:prstGeom>
          <a:noFill/>
        </p:spPr>
        <p:txBody>
          <a:bodyPr wrap="none">
            <a:spAutoFit/>
          </a:bodyPr>
          <a:lstStyle/>
          <a:p>
            <a:pPr>
              <a:defRPr sz="3200" b="1">
                <a:solidFill>
                  <a:srgbClr val="1976D2"/>
                </a:solidFill>
              </a:defRPr>
            </a:pPr>
            <a:r>
              <a:rPr sz="3600" dirty="0">
                <a:latin typeface="Times New Roman" panose="02020603050405020304" pitchFamily="18" charset="0"/>
                <a:cs typeface="Times New Roman" panose="02020603050405020304" pitchFamily="18" charset="0"/>
              </a:rPr>
              <a:t>Interactive Dashboard (1/2</a:t>
            </a:r>
            <a:r>
              <a:rPr dirty="0"/>
              <a:t>)</a:t>
            </a:r>
          </a:p>
        </p:txBody>
      </p:sp>
      <p:pic>
        <p:nvPicPr>
          <p:cNvPr id="3" name="Picture 2" descr="dashboard_page1_industry.jpeg"/>
          <p:cNvPicPr>
            <a:picLocks noChangeAspect="1"/>
          </p:cNvPicPr>
          <p:nvPr/>
        </p:nvPicPr>
        <p:blipFill>
          <a:blip r:embed="rId2"/>
          <a:stretch>
            <a:fillRect/>
          </a:stretch>
        </p:blipFill>
        <p:spPr>
          <a:xfrm>
            <a:off x="548640" y="1463040"/>
            <a:ext cx="5486400" cy="3172968"/>
          </a:xfrm>
          <a:prstGeom prst="rect">
            <a:avLst/>
          </a:prstGeom>
        </p:spPr>
      </p:pic>
      <p:pic>
        <p:nvPicPr>
          <p:cNvPr id="4" name="Picture 3" descr="dashboard_page2_performance.jpeg"/>
          <p:cNvPicPr>
            <a:picLocks noChangeAspect="1"/>
          </p:cNvPicPr>
          <p:nvPr/>
        </p:nvPicPr>
        <p:blipFill>
          <a:blip r:embed="rId3"/>
          <a:stretch>
            <a:fillRect/>
          </a:stretch>
        </p:blipFill>
        <p:spPr>
          <a:xfrm>
            <a:off x="6309360" y="1463040"/>
            <a:ext cx="5486400" cy="3172968"/>
          </a:xfrm>
          <a:prstGeom prst="rect">
            <a:avLst/>
          </a:prstGeom>
        </p:spPr>
      </p:pic>
      <p:sp>
        <p:nvSpPr>
          <p:cNvPr id="5" name="TextBox 4"/>
          <p:cNvSpPr txBox="1"/>
          <p:nvPr/>
        </p:nvSpPr>
        <p:spPr>
          <a:xfrm>
            <a:off x="731520" y="5212080"/>
            <a:ext cx="10698480" cy="4572000"/>
          </a:xfrm>
          <a:prstGeom prst="rect">
            <a:avLst/>
          </a:prstGeom>
          <a:noFill/>
        </p:spPr>
        <p:txBody>
          <a:bodyPr wrap="square">
            <a:spAutoFit/>
          </a:bodyPr>
          <a:lstStyle/>
          <a:p>
            <a:pPr>
              <a:spcAft>
                <a:spcPts val="1000"/>
              </a:spcAft>
              <a:defRPr sz="1600"/>
            </a:pPr>
            <a:r>
              <a:t>•  Page 1: Industry Overview - KPI cards for AUM, SIP, Folios, Schemes</a:t>
            </a:r>
          </a:p>
          <a:p>
            <a:pPr>
              <a:spcAft>
                <a:spcPts val="1000"/>
              </a:spcAft>
              <a:defRPr sz="1600"/>
            </a:pPr>
            <a:r>
              <a:t>•  Page 2: Fund Performance - Return vs Risk scatter, scorecard table</a:t>
            </a:r>
          </a:p>
        </p:txBody>
      </p:sp>
      <p:sp>
        <p:nvSpPr>
          <p:cNvPr id="6" name="TextBox 5"/>
          <p:cNvSpPr txBox="1"/>
          <p:nvPr/>
        </p:nvSpPr>
        <p:spPr>
          <a:xfrm>
            <a:off x="10789920" y="6446520"/>
            <a:ext cx="1188720" cy="365760"/>
          </a:xfrm>
          <a:prstGeom prst="rect">
            <a:avLst/>
          </a:prstGeom>
          <a:noFill/>
        </p:spPr>
        <p:txBody>
          <a:bodyPr wrap="none">
            <a:spAutoFit/>
          </a:bodyPr>
          <a:lstStyle/>
          <a:p>
            <a:pPr algn="r">
              <a:defRPr sz="1000">
                <a:solidFill>
                  <a:srgbClr val="606060"/>
                </a:solidFill>
              </a:defRPr>
            </a:pPr>
            <a:r>
              <a:t>Bluestock Fintech | 9/12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5647700" cy="646331"/>
          </a:xfrm>
          <a:prstGeom prst="rect">
            <a:avLst/>
          </a:prstGeom>
          <a:noFill/>
        </p:spPr>
        <p:txBody>
          <a:bodyPr wrap="none">
            <a:spAutoFit/>
          </a:bodyPr>
          <a:lstStyle/>
          <a:p>
            <a:pPr>
              <a:defRPr sz="3200" b="1">
                <a:solidFill>
                  <a:srgbClr val="1976D2"/>
                </a:solidFill>
              </a:defRPr>
            </a:pPr>
            <a:r>
              <a:rPr sz="3600" dirty="0">
                <a:latin typeface="Times New Roman" panose="02020603050405020304" pitchFamily="18" charset="0"/>
                <a:cs typeface="Times New Roman" panose="02020603050405020304" pitchFamily="18" charset="0"/>
              </a:rPr>
              <a:t>Interactive Dashboard (2/2)</a:t>
            </a:r>
          </a:p>
        </p:txBody>
      </p:sp>
      <p:pic>
        <p:nvPicPr>
          <p:cNvPr id="3" name="Picture 2" descr="dashboard_page3_investor.jpeg"/>
          <p:cNvPicPr>
            <a:picLocks noChangeAspect="1"/>
          </p:cNvPicPr>
          <p:nvPr/>
        </p:nvPicPr>
        <p:blipFill>
          <a:blip r:embed="rId2"/>
          <a:stretch>
            <a:fillRect/>
          </a:stretch>
        </p:blipFill>
        <p:spPr>
          <a:xfrm>
            <a:off x="548640" y="1463040"/>
            <a:ext cx="5486400" cy="3172968"/>
          </a:xfrm>
          <a:prstGeom prst="rect">
            <a:avLst/>
          </a:prstGeom>
        </p:spPr>
      </p:pic>
      <p:pic>
        <p:nvPicPr>
          <p:cNvPr id="4" name="Picture 3" descr="dashboard_page4_sip_trends.jpeg"/>
          <p:cNvPicPr>
            <a:picLocks noChangeAspect="1"/>
          </p:cNvPicPr>
          <p:nvPr/>
        </p:nvPicPr>
        <p:blipFill>
          <a:blip r:embed="rId3"/>
          <a:stretch>
            <a:fillRect/>
          </a:stretch>
        </p:blipFill>
        <p:spPr>
          <a:xfrm>
            <a:off x="6309360" y="1463040"/>
            <a:ext cx="5486400" cy="3172968"/>
          </a:xfrm>
          <a:prstGeom prst="rect">
            <a:avLst/>
          </a:prstGeom>
        </p:spPr>
      </p:pic>
      <p:sp>
        <p:nvSpPr>
          <p:cNvPr id="5" name="TextBox 4"/>
          <p:cNvSpPr txBox="1"/>
          <p:nvPr/>
        </p:nvSpPr>
        <p:spPr>
          <a:xfrm>
            <a:off x="731520" y="5212080"/>
            <a:ext cx="10698480" cy="4572000"/>
          </a:xfrm>
          <a:prstGeom prst="rect">
            <a:avLst/>
          </a:prstGeom>
          <a:noFill/>
        </p:spPr>
        <p:txBody>
          <a:bodyPr wrap="square">
            <a:spAutoFit/>
          </a:bodyPr>
          <a:lstStyle/>
          <a:p>
            <a:pPr>
              <a:spcAft>
                <a:spcPts val="1000"/>
              </a:spcAft>
              <a:defRPr sz="1600"/>
            </a:pPr>
            <a:r>
              <a:t>•  Page 3: Investor Analytics - State/age/city-tier breakdowns</a:t>
            </a:r>
          </a:p>
          <a:p>
            <a:pPr>
              <a:spcAft>
                <a:spcPts val="1000"/>
              </a:spcAft>
              <a:defRPr sz="1600"/>
            </a:pPr>
            <a:r>
              <a:t>•  Page 4: SIP &amp; Market Trends - Inflow trends, category heatmap</a:t>
            </a:r>
          </a:p>
        </p:txBody>
      </p:sp>
      <p:sp>
        <p:nvSpPr>
          <p:cNvPr id="6" name="TextBox 5"/>
          <p:cNvSpPr txBox="1"/>
          <p:nvPr/>
        </p:nvSpPr>
        <p:spPr>
          <a:xfrm>
            <a:off x="10789920" y="6446520"/>
            <a:ext cx="1188720" cy="365760"/>
          </a:xfrm>
          <a:prstGeom prst="rect">
            <a:avLst/>
          </a:prstGeom>
          <a:noFill/>
        </p:spPr>
        <p:txBody>
          <a:bodyPr wrap="none">
            <a:spAutoFit/>
          </a:bodyPr>
          <a:lstStyle/>
          <a:p>
            <a:pPr algn="r">
              <a:defRPr sz="1000">
                <a:solidFill>
                  <a:srgbClr val="606060"/>
                </a:solidFill>
              </a:defRPr>
            </a:pPr>
            <a:r>
              <a:t>Bluestock Fintech | 10/12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3693640" cy="830997"/>
          </a:xfrm>
          <a:prstGeom prst="rect">
            <a:avLst/>
          </a:prstGeom>
          <a:noFill/>
        </p:spPr>
        <p:txBody>
          <a:bodyPr wrap="none">
            <a:spAutoFit/>
          </a:bodyPr>
          <a:lstStyle/>
          <a:p>
            <a:pPr>
              <a:defRPr sz="3200" b="1">
                <a:solidFill>
                  <a:srgbClr val="1976D2"/>
                </a:solidFill>
              </a:defRPr>
            </a:pPr>
            <a:r>
              <a:rPr sz="4800" dirty="0">
                <a:latin typeface="Times New Roman" panose="02020603050405020304" pitchFamily="18" charset="0"/>
                <a:cs typeface="Times New Roman" panose="02020603050405020304" pitchFamily="18" charset="0"/>
              </a:rPr>
              <a:t>Key Findings</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pPr>
            <a:r>
              <a:t>•  SBI Mutual Fund leads with Rs.12.5 lakh crore AUM (largest AMC)</a:t>
            </a:r>
          </a:p>
          <a:p>
            <a:pPr>
              <a:spcAft>
                <a:spcPts val="1000"/>
              </a:spcAft>
              <a:defRPr sz="1800"/>
            </a:pPr>
            <a:r>
              <a:t>•  All 40 funds beat their 3-year benchmark - positive alpha across the board</a:t>
            </a:r>
          </a:p>
          <a:p>
            <a:pPr>
              <a:spcAft>
                <a:spcPts val="1000"/>
              </a:spcAft>
              <a:defRPr sz="1800"/>
            </a:pPr>
            <a:r>
              <a:t>•  Small Cap funds carry highest risk (VaR/CVaR) - up to -5.8% worst-day loss</a:t>
            </a:r>
          </a:p>
          <a:p>
            <a:pPr>
              <a:spcAft>
                <a:spcPts val="1000"/>
              </a:spcAft>
              <a:defRPr sz="1800"/>
            </a:pPr>
            <a:r>
              <a:t>•  Liquid funds are near risk-free - worst-day loss under 0.1%</a:t>
            </a:r>
          </a:p>
          <a:p>
            <a:pPr>
              <a:spcAft>
                <a:spcPts val="1000"/>
              </a:spcAft>
              <a:defRPr sz="1800"/>
            </a:pPr>
            <a:r>
              <a:t>•  97.8% of frequent SIP investors show gaps &gt;35 days - SIP discipline gap</a:t>
            </a:r>
          </a:p>
          <a:p>
            <a:pPr>
              <a:spcAft>
                <a:spcPts val="1000"/>
              </a:spcAft>
              <a:defRPr sz="1800"/>
            </a:pPr>
            <a:r>
              <a:t>•  2025 cohort invests 23% more per SIP (Rs.13,505) vs 2024 cohort (Rs.10,997)</a:t>
            </a:r>
          </a:p>
          <a:p>
            <a:pPr>
              <a:spcAft>
                <a:spcPts val="1000"/>
              </a:spcAft>
              <a:defRPr sz="1800"/>
            </a:pPr>
            <a:r>
              <a:t>•  All equity portfolios have HHI &lt; 2500 - reasonable sector diversification</a:t>
            </a:r>
          </a:p>
          <a:p>
            <a:pPr>
              <a:spcAft>
                <a:spcPts val="1000"/>
              </a:spcAft>
              <a:defRPr sz="1800"/>
            </a:pPr>
            <a:r>
              <a:t>•  26-35 age group has the most SIP investors; 56+ invests highest average amount</a:t>
            </a:r>
          </a:p>
        </p:txBody>
      </p:sp>
      <p:sp>
        <p:nvSpPr>
          <p:cNvPr id="4" name="TextBox 3"/>
          <p:cNvSpPr txBox="1"/>
          <p:nvPr/>
        </p:nvSpPr>
        <p:spPr>
          <a:xfrm>
            <a:off x="10789920" y="6446520"/>
            <a:ext cx="1188720" cy="365760"/>
          </a:xfrm>
          <a:prstGeom prst="rect">
            <a:avLst/>
          </a:prstGeom>
          <a:noFill/>
        </p:spPr>
        <p:txBody>
          <a:bodyPr wrap="none">
            <a:spAutoFit/>
          </a:bodyPr>
          <a:lstStyle/>
          <a:p>
            <a:pPr algn="r">
              <a:defRPr sz="1000">
                <a:solidFill>
                  <a:srgbClr val="606060"/>
                </a:solidFill>
              </a:defRPr>
            </a:pPr>
            <a:r>
              <a:t>Bluestock Fintech | 11/12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88828" cy="6866467"/>
            <a:chOff x="0" y="-8467"/>
            <a:chExt cx="12192000" cy="6866467"/>
          </a:xfrm>
        </p:grpSpPr>
        <p:cxnSp>
          <p:nvCxnSpPr>
            <p:cNvPr id="9" name="Straight Connector 8">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1"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12">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36" name="Rectangle 35">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88828" cy="6866467"/>
            <a:chOff x="0" y="-8467"/>
            <a:chExt cx="12192000" cy="6866467"/>
          </a:xfrm>
        </p:grpSpPr>
        <p:cxnSp>
          <p:nvCxnSpPr>
            <p:cNvPr id="23" name="Straight Connector 22">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25"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Isosceles Triangle 31">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extBox 1"/>
          <p:cNvSpPr txBox="1"/>
          <p:nvPr/>
        </p:nvSpPr>
        <p:spPr>
          <a:xfrm>
            <a:off x="677157" y="2160589"/>
            <a:ext cx="8594429" cy="3880773"/>
          </a:xfrm>
          <a:prstGeom prst="rect">
            <a:avLst/>
          </a:prstGeom>
        </p:spPr>
        <p:txBody>
          <a:bodyPr vert="horz" lIns="91440" tIns="45720" rIns="91440" bIns="45720" rtlCol="0">
            <a:normAutofit/>
          </a:bodyPr>
          <a:lstStyle/>
          <a:p>
            <a:pPr indent="-228600">
              <a:spcBef>
                <a:spcPts val="1000"/>
              </a:spcBef>
              <a:buClr>
                <a:schemeClr val="accent1"/>
              </a:buClr>
              <a:buSzPct val="80000"/>
              <a:buFont typeface="Wingdings 3" charset="2"/>
              <a:buChar char=""/>
              <a:defRPr sz="5400" b="1">
                <a:solidFill>
                  <a:srgbClr val="1976D2"/>
                </a:solidFill>
              </a:defRPr>
            </a:pPr>
            <a:r>
              <a:rPr lang="en-US" dirty="0">
                <a:solidFill>
                  <a:schemeClr val="tx1">
                    <a:lumMod val="75000"/>
                    <a:lumOff val="25000"/>
                  </a:schemeClr>
                </a:solidFill>
                <a:latin typeface="Times New Roman" panose="02020603050405020304" pitchFamily="18" charset="0"/>
                <a:cs typeface="Times New Roman" panose="02020603050405020304" pitchFamily="18" charset="0"/>
              </a:rPr>
              <a:t>Thank You</a:t>
            </a:r>
          </a:p>
          <a:p>
            <a:pPr indent="-228600">
              <a:spcBef>
                <a:spcPts val="1000"/>
              </a:spcBef>
              <a:buClr>
                <a:schemeClr val="accent1"/>
              </a:buClr>
              <a:buSzPct val="80000"/>
              <a:buFont typeface="Wingdings 3" charset="2"/>
              <a:buChar char=""/>
              <a:defRPr sz="1800">
                <a:solidFill>
                  <a:srgbClr val="606060"/>
                </a:solidFill>
              </a:defRPr>
            </a:pPr>
            <a:r>
              <a:rPr lang="en-US" dirty="0" err="1">
                <a:solidFill>
                  <a:schemeClr val="tx1">
                    <a:lumMod val="75000"/>
                    <a:lumOff val="25000"/>
                  </a:schemeClr>
                </a:solidFill>
              </a:rPr>
              <a:t>Bluestock</a:t>
            </a:r>
            <a:r>
              <a:rPr lang="en-US" dirty="0">
                <a:solidFill>
                  <a:schemeClr val="tx1">
                    <a:lumMod val="75000"/>
                    <a:lumOff val="25000"/>
                  </a:schemeClr>
                </a:solidFill>
              </a:rPr>
              <a:t> Fintech | Mutual Fund Analytics Capstone</a:t>
            </a:r>
          </a:p>
          <a:p>
            <a:pPr indent="-228600">
              <a:spcBef>
                <a:spcPts val="1000"/>
              </a:spcBef>
              <a:buClr>
                <a:schemeClr val="accent1"/>
              </a:buClr>
              <a:buSzPct val="80000"/>
              <a:buFont typeface="Wingdings 3" charset="2"/>
              <a:buChar char=""/>
              <a:defRPr sz="1400">
                <a:solidFill>
                  <a:srgbClr val="606060"/>
                </a:solidFill>
              </a:defRPr>
            </a:pPr>
            <a:r>
              <a:rPr lang="en-US" dirty="0">
                <a:solidFill>
                  <a:schemeClr val="tx1">
                    <a:lumMod val="75000"/>
                    <a:lumOff val="25000"/>
                  </a:schemeClr>
                </a:solidFill>
              </a:rPr>
              <a:t>GitHub: github.com/Samadhan1904/</a:t>
            </a:r>
            <a:r>
              <a:rPr lang="en-US" dirty="0" err="1">
                <a:solidFill>
                  <a:schemeClr val="tx1">
                    <a:lumMod val="75000"/>
                    <a:lumOff val="25000"/>
                  </a:schemeClr>
                </a:solidFill>
              </a:rPr>
              <a:t>bluestock</a:t>
            </a:r>
            <a:r>
              <a:rPr lang="en-US" dirty="0">
                <a:solidFill>
                  <a:schemeClr val="tx1">
                    <a:lumMod val="75000"/>
                    <a:lumOff val="25000"/>
                  </a:schemeClr>
                </a:solidFill>
              </a:rPr>
              <a:t>-fintech-capstone</a:t>
            </a:r>
          </a:p>
        </p:txBody>
      </p:sp>
      <p:sp>
        <p:nvSpPr>
          <p:cNvPr id="3" name="TextBox 2"/>
          <p:cNvSpPr txBox="1"/>
          <p:nvPr/>
        </p:nvSpPr>
        <p:spPr>
          <a:xfrm>
            <a:off x="10447451" y="6446520"/>
            <a:ext cx="1531189" cy="246221"/>
          </a:xfrm>
          <a:prstGeom prst="rect">
            <a:avLst/>
          </a:prstGeom>
          <a:noFill/>
        </p:spPr>
        <p:txBody>
          <a:bodyPr wrap="none">
            <a:spAutoFit/>
          </a:bodyPr>
          <a:lstStyle/>
          <a:p>
            <a:pPr algn="r">
              <a:spcAft>
                <a:spcPts val="600"/>
              </a:spcAft>
              <a:defRPr sz="1000">
                <a:solidFill>
                  <a:srgbClr val="606060"/>
                </a:solidFill>
              </a:defRPr>
            </a:pPr>
            <a:r>
              <a:rPr lang="en-IN" sz="1000"/>
              <a:t>Bluestock Fintech | 12/12</a:t>
            </a:r>
          </a:p>
        </p:txBody>
      </p:sp>
    </p:spTree>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9</TotalTime>
  <Words>797</Words>
  <Application>Microsoft Office PowerPoint</Application>
  <PresentationFormat>Custom</PresentationFormat>
  <Paragraphs>62</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Times New Roman</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Pranjal Dhore</dc:creator>
  <cp:keywords/>
  <dc:description>generated using python-pptx</dc:description>
  <cp:lastModifiedBy>PRANJAL DHORE</cp:lastModifiedBy>
  <cp:revision>2</cp:revision>
  <dcterms:created xsi:type="dcterms:W3CDTF">2013-01-27T09:14:16Z</dcterms:created>
  <dcterms:modified xsi:type="dcterms:W3CDTF">2026-06-13T07:27:14Z</dcterms:modified>
  <cp:category/>
</cp:coreProperties>
</file>